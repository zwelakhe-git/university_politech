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3"/>
  </p:sldMasterIdLst>
  <p:notesMasterIdLst>
    <p:notesMasterId r:id="rId17"/>
  </p:notesMasterIdLst>
  <p:handoutMasterIdLst>
    <p:handoutMasterId r:id="rId18"/>
  </p:handoutMasterIdLst>
  <p:sldIdLst>
    <p:sldId id="256" r:id="rId4"/>
    <p:sldId id="257" r:id="rId5"/>
    <p:sldId id="26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</p:sldIdLst>
  <p:sldSz cx="9144000" cy="5143500" type="screen16x9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95" autoAdjust="0"/>
  </p:normalViewPr>
  <p:slideViewPr>
    <p:cSldViewPr>
      <p:cViewPr varScale="1">
        <p:scale>
          <a:sx n="111" d="100"/>
          <a:sy n="111" d="100"/>
        </p:scale>
        <p:origin x="634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2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0"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/>
            </a:lvl1pPr>
          </a:lstStyle>
          <a:p>
            <a:pPr>
              <a:defRPr/>
            </a:pPr>
            <a:fld id="{C47EBDC8-B0F1-4A4F-A036-A0E20CA2258C}" type="datetimeFigureOut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0"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/>
            </a:lvl1pPr>
          </a:lstStyle>
          <a:p>
            <a:pPr>
              <a:defRPr/>
            </a:pPr>
            <a:fld id="{FABA00AF-3D6B-466F-A33E-18DDDD629220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2659391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0"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/>
            </a:lvl1pPr>
          </a:lstStyle>
          <a:p>
            <a:pPr>
              <a:defRPr/>
            </a:pPr>
            <a:fld id="{8ADA8662-E63E-4745-A664-EACA2B5E8FD5}" type="datetimeFigureOut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0"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/>
            </a:lvl1pPr>
          </a:lstStyle>
          <a:p>
            <a:pPr>
              <a:defRPr/>
            </a:pPr>
            <a:fld id="{13D99D41-D50C-4D7C-BD9A-708CB68AB491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8386633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0223002-0953-4CF8-8149-C846063C4B55}" type="slidenum">
              <a:rPr kumimoji="0" lang="ru-RU" altLang="ru-RU" sz="1200" smtClean="0"/>
              <a:pPr/>
              <a:t>2</a:t>
            </a:fld>
            <a:endParaRPr kumimoji="0"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4080858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328738" y="971550"/>
            <a:ext cx="6486525" cy="2365375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ffectLst>
            <a:outerShdw blurRad="63500" sx="100500" sy="1005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kumimoji="0" sz="3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143001"/>
            <a:ext cx="6498158" cy="1293650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6" y="2474261"/>
            <a:ext cx="6498159" cy="68748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2FAFA-DEF5-42CF-A7D8-D5E176721CFF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DD0AB-9B3A-4B91-BE5E-34F5EA670D36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97767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7B62A-0C2E-4DEA-92E6-83EE65379162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228B9-6A97-4236-96CB-4626B9E84942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96427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 с рисун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43" y="2514603"/>
            <a:ext cx="8416925" cy="11025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43" y="3578274"/>
            <a:ext cx="8416925" cy="729503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272655"/>
            <a:ext cx="8402040" cy="212764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dirty="0"/>
              <a:t>Чтобы добавить рисунок, перетащите его на заполнитель или щелкните значок</a:t>
            </a:r>
            <a:endParaRPr noProof="0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57E4C-9E48-41C2-BEAC-81BFDA04AFC3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B3B04-15D4-407A-88E3-779249533E9E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93039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80" y="1802359"/>
            <a:ext cx="8056563" cy="1021556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80" y="2802004"/>
            <a:ext cx="8056563" cy="112514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548E9-4D53-4390-B98C-FD37A909970E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94210-C7F5-4274-BC45-3B921253B6B8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03679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80684"/>
            <a:ext cx="8042276" cy="10027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200151"/>
            <a:ext cx="3840480" cy="325755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200151"/>
            <a:ext cx="3840480" cy="325755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23469-BB92-4253-8D2D-C15BACF98D30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2A1DA-9D15-4635-873C-1613F093189F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80940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80684"/>
            <a:ext cx="8042276" cy="1002717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089921"/>
            <a:ext cx="3840480" cy="5631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1760564"/>
            <a:ext cx="3840480" cy="2697139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089921"/>
            <a:ext cx="3840480" cy="5631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1760564"/>
            <a:ext cx="3840480" cy="2697139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EF685-A514-40E7-B827-3BFBEE6D335E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0A286-E7E5-4448-8E14-1F6A361B302E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11913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17EDD-A224-421D-A097-0DFC968B0179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90EEB-BD28-4E3C-B4E8-E573C5336976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66944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A5A53-B49D-48BC-AAC9-8DC1AEA9AD47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96658-8672-4018-A938-589BB4D7E5B0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58132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58905"/>
            <a:ext cx="3840480" cy="871538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276227"/>
            <a:ext cx="3840480" cy="4181475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340892"/>
            <a:ext cx="3840480" cy="279011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DD8C9-81A6-4B2B-BCBB-F86DE6D10CC6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17F8B-CA15-4189-B636-AB9287C7143D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12762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58905"/>
            <a:ext cx="4079545" cy="871538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3" y="1340892"/>
            <a:ext cx="4079545" cy="279011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269544"/>
            <a:ext cx="3657600" cy="3988558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dirty="0"/>
              <a:t>Чтобы добавить рисунок, перетащите его на заполнитель или щелкните значок</a:t>
            </a:r>
            <a:endParaRPr noProof="0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3222B-17A2-4D5D-B6A9-305421BE5CB7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827D7-808E-4297-9AD8-D6BB617953C0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54744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89DF7-9A54-4587-A2A3-66587E1B25C0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330DA-E1D8-4DFF-B2FA-C86591E49390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872161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276227"/>
            <a:ext cx="1524000" cy="4181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276227"/>
            <a:ext cx="6689726" cy="4181475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0DDCD-8836-439A-B549-0D90A56C60BB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8CE44-6C44-4971-B397-2A5C165C7137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19527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49275" y="80963"/>
            <a:ext cx="8042275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9275" y="1200150"/>
            <a:ext cx="804227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275" y="4706938"/>
            <a:ext cx="213360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2499ADB-9A67-4EFC-98AF-F87FBC78265A}" type="datetime1">
              <a:rPr lang="ru-RU" altLang="ru-RU"/>
              <a:pPr>
                <a:defRPr/>
              </a:pPr>
              <a:t>17.09.2026</a:t>
            </a:fld>
            <a:endParaRPr lang="ru-RU" alt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113" y="4706938"/>
            <a:ext cx="48402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kumimoji="0" sz="12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813" y="4706938"/>
            <a:ext cx="99060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590ABA6-7BB7-4879-B8B4-A792E5CE4742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600" kern="1200">
          <a:solidFill>
            <a:schemeClr val="accent1"/>
          </a:solidFill>
          <a:latin typeface="+mj-lt"/>
          <a:ea typeface="Arial" charset="0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ea typeface="Arial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ea typeface="Arial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ea typeface="Arial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ea typeface="Arial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600">
          <a:solidFill>
            <a:schemeClr val="accent1"/>
          </a:solidFill>
          <a:latin typeface="News Gothic MT" charset="0"/>
          <a:cs typeface="Arial" pitchFamily="34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anose="05020102010507070707" pitchFamily="18" charset="2"/>
        <a:buChar char=""/>
        <a:defRPr kumimoji="1" sz="2400" kern="1200">
          <a:solidFill>
            <a:srgbClr val="595959"/>
          </a:solidFill>
          <a:latin typeface="+mn-lt"/>
          <a:ea typeface="Arial" charset="0"/>
          <a:cs typeface="Arial" pitchFamily="34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anose="05020102010507070707" pitchFamily="18" charset="2"/>
        <a:buChar char=""/>
        <a:defRPr kumimoji="1" sz="2200" kern="1200">
          <a:solidFill>
            <a:srgbClr val="595959"/>
          </a:solidFill>
          <a:latin typeface="+mn-lt"/>
          <a:ea typeface="Arial" charset="0"/>
          <a:cs typeface="Arial" pitchFamily="34" charset="0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anose="05020102010507070707" pitchFamily="18" charset="2"/>
        <a:buChar char=""/>
        <a:defRPr kumimoji="1" sz="2000" kern="1200">
          <a:solidFill>
            <a:srgbClr val="595959"/>
          </a:solidFill>
          <a:latin typeface="+mn-lt"/>
          <a:ea typeface="Arial" charset="0"/>
          <a:cs typeface="Arial" pitchFamily="34" charset="0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anose="05020102010507070707" pitchFamily="18" charset="2"/>
        <a:buChar char=""/>
        <a:defRPr kumimoji="1" kern="1200">
          <a:solidFill>
            <a:srgbClr val="595959"/>
          </a:solidFill>
          <a:latin typeface="+mn-lt"/>
          <a:ea typeface="Arial" charset="0"/>
          <a:cs typeface="Arial" pitchFamily="34" charset="0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anose="05020102010507070707" pitchFamily="18" charset="2"/>
        <a:buChar char=""/>
        <a:defRPr kumimoji="1" kern="1200">
          <a:solidFill>
            <a:srgbClr val="595959"/>
          </a:solidFill>
          <a:latin typeface="+mn-lt"/>
          <a:ea typeface="Arial" charset="0"/>
          <a:cs typeface="Arial" pitchFamily="34" charset="0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g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913" y="555625"/>
            <a:ext cx="6696075" cy="2644775"/>
          </a:xfrm>
        </p:spPr>
        <p:txBody>
          <a:bodyPr/>
          <a:lstStyle/>
          <a:p>
            <a:pPr>
              <a:buClr>
                <a:srgbClr val="6FB7D7"/>
              </a:buClr>
            </a:pPr>
            <a:br>
              <a:rPr kumimoji="0" lang="ru-RU" altLang="ru-RU" sz="4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3200" b="1">
                <a:solidFill>
                  <a:srgbClr val="18579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ПРОГРАММНО-АППАРАТНЫХ КОМПЛЕКСОВ.</a:t>
            </a:r>
            <a:br>
              <a:rPr kumimoji="0" lang="ru-RU" altLang="ru-RU" sz="3200" b="1">
                <a:solidFill>
                  <a:srgbClr val="18579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4000" b="1">
              <a:solidFill>
                <a:srgbClr val="18579B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AutoShape 3" descr="http://www.spbstu.ru/bitrix/templates/main/img/polytech_gerb.svg"/>
          <p:cNvSpPr>
            <a:spLocks noChangeAspect="1" noChangeArrowheads="1"/>
          </p:cNvSpPr>
          <p:nvPr/>
        </p:nvSpPr>
        <p:spPr bwMode="auto"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0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4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 sz="22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0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AutoShape 5" descr="http://www.spbstu.ru/bitrix/templates/main/img/polytech_gerb.svg"/>
          <p:cNvSpPr>
            <a:spLocks noChangeAspect="1" noChangeArrowheads="1"/>
          </p:cNvSpPr>
          <p:nvPr/>
        </p:nvSpPr>
        <p:spPr bwMode="auto"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0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4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 sz="22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0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25" name="AutoShape 7" descr="http://www.spbstu.ru/bitrix/templates/main/img/polytech_gerb.svg"/>
          <p:cNvSpPr>
            <a:spLocks noChangeAspect="1" noChangeArrowheads="1"/>
          </p:cNvSpPr>
          <p:nvPr/>
        </p:nvSpPr>
        <p:spPr bwMode="auto"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0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4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 sz="22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0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126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22238"/>
            <a:ext cx="1011237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0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4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 sz="22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 sz="2000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Char char=""/>
              <a:defRPr kumimoji="1">
                <a:solidFill>
                  <a:srgbClr val="595959"/>
                </a:solidFill>
                <a:latin typeface="News Gothic MT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289886-B54E-4513-A0EC-0DE56A2F8858}" type="slidenum">
              <a:rPr kumimoji="0" lang="ru-RU" altLang="ru-RU" sz="3600" smtClean="0">
                <a:solidFill>
                  <a:schemeClr val="bg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ru-RU" altLang="ru-RU" sz="36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Прямоугольник 1"/>
          <p:cNvSpPr>
            <a:spLocks noChangeArrowheads="1"/>
          </p:cNvSpPr>
          <p:nvPr/>
        </p:nvSpPr>
        <p:spPr bwMode="auto">
          <a:xfrm>
            <a:off x="1619250" y="220663"/>
            <a:ext cx="66881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цифрового измерительного канала</a:t>
            </a:r>
          </a:p>
        </p:txBody>
      </p:sp>
      <p:sp>
        <p:nvSpPr>
          <p:cNvPr id="6148" name="Rectangle 13"/>
          <p:cNvSpPr>
            <a:spLocks noChangeArrowheads="1"/>
          </p:cNvSpPr>
          <p:nvPr/>
        </p:nvSpPr>
        <p:spPr bwMode="auto">
          <a:xfrm flipV="1">
            <a:off x="1770063" y="1398588"/>
            <a:ext cx="69881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sz="1400"/>
          </a:p>
        </p:txBody>
      </p:sp>
      <p:sp>
        <p:nvSpPr>
          <p:cNvPr id="6149" name="Rectangle 15"/>
          <p:cNvSpPr>
            <a:spLocks noChangeArrowheads="1"/>
          </p:cNvSpPr>
          <p:nvPr/>
        </p:nvSpPr>
        <p:spPr bwMode="auto">
          <a:xfrm>
            <a:off x="4067175" y="1581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6150" name="Rectangle 18"/>
          <p:cNvSpPr>
            <a:spLocks noChangeArrowheads="1"/>
          </p:cNvSpPr>
          <p:nvPr/>
        </p:nvSpPr>
        <p:spPr bwMode="auto">
          <a:xfrm>
            <a:off x="558800" y="2165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6151" name="Rectangle 19"/>
          <p:cNvSpPr>
            <a:spLocks noChangeArrowheads="1"/>
          </p:cNvSpPr>
          <p:nvPr/>
        </p:nvSpPr>
        <p:spPr bwMode="auto">
          <a:xfrm>
            <a:off x="755650" y="2147888"/>
            <a:ext cx="28098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2" name="Rectangle 24"/>
          <p:cNvSpPr>
            <a:spLocks noChangeArrowheads="1"/>
          </p:cNvSpPr>
          <p:nvPr/>
        </p:nvSpPr>
        <p:spPr bwMode="auto">
          <a:xfrm>
            <a:off x="8177213" y="3176588"/>
            <a:ext cx="2365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500">
                <a:cs typeface="Times New Roman" panose="02020603050405020304" pitchFamily="18" charset="0"/>
              </a:rPr>
              <a:t> </a:t>
            </a:r>
            <a:endParaRPr lang="ru-RU"/>
          </a:p>
        </p:txBody>
      </p:sp>
      <p:sp>
        <p:nvSpPr>
          <p:cNvPr id="6153" name="Rectangle 35"/>
          <p:cNvSpPr>
            <a:spLocks noChangeArrowheads="1"/>
          </p:cNvSpPr>
          <p:nvPr/>
        </p:nvSpPr>
        <p:spPr bwMode="auto">
          <a:xfrm>
            <a:off x="5284788" y="2693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6154" name="Объект 4099"/>
          <p:cNvGraphicFramePr>
            <a:graphicFrameLocks noChangeAspect="1"/>
          </p:cNvGraphicFramePr>
          <p:nvPr/>
        </p:nvGraphicFramePr>
        <p:xfrm>
          <a:off x="463550" y="350678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Уравнение" r:id="rId4" imgW="114151" imgH="215619" progId="Equation.3">
                  <p:embed/>
                </p:oleObj>
              </mc:Choice>
              <mc:Fallback>
                <p:oleObj name="Уравнение" r:id="rId4" imgW="114151" imgH="215619" progId="Equation.3">
                  <p:embed/>
                  <p:pic>
                    <p:nvPicPr>
                      <p:cNvPr id="0" name="Объект 40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3506788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Rectangle 42"/>
          <p:cNvSpPr>
            <a:spLocks noChangeArrowheads="1"/>
          </p:cNvSpPr>
          <p:nvPr/>
        </p:nvSpPr>
        <p:spPr bwMode="auto">
          <a:xfrm>
            <a:off x="4857750" y="4545013"/>
            <a:ext cx="35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500">
                <a:ea typeface="Arial Unicode MS" panose="020B0604020202020204" pitchFamily="34" charset="-128"/>
                <a:cs typeface="Arial Unicode MS" panose="020B0604020202020204" pitchFamily="34" charset="-128"/>
              </a:rPr>
              <a:t>, -</a:t>
            </a:r>
            <a:endParaRPr lang="ru-RU"/>
          </a:p>
        </p:txBody>
      </p:sp>
      <p:pic>
        <p:nvPicPr>
          <p:cNvPr id="6156" name="Рисунок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5738"/>
            <a:ext cx="1084263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59632" y="1203598"/>
            <a:ext cx="7344816" cy="3554819"/>
          </a:xfrm>
          <a:prstGeom prst="rect">
            <a:avLst/>
          </a:prstGeom>
          <a:blipFill rotWithShape="0">
            <a:blip r:embed="rId7"/>
            <a:stretch>
              <a:fillRect l="-332" t="-342" r="-166" b="-514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7904EA0-1DDA-4369-86BA-8E3389D3C27C}" type="slidenum">
              <a:rPr kumimoji="0" lang="ru-RU" altLang="ru-RU" sz="3600" smtClean="0">
                <a:solidFill>
                  <a:schemeClr val="bg1"/>
                </a:solidFill>
              </a:rPr>
              <a:pPr/>
              <a:t>3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8195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9725"/>
            <a:ext cx="1006475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79613" y="411163"/>
            <a:ext cx="6696075" cy="21859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 цифрового  измерительного  канала</a:t>
            </a:r>
          </a:p>
          <a:p>
            <a:pPr algn="ctr">
              <a:defRPr/>
            </a:pPr>
            <a:r>
              <a:rPr lang="ru-RU" sz="15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более детально схему построения цифрового измерительного канала ввода аналоговых величин.</a:t>
            </a:r>
          </a:p>
          <a:p>
            <a:pPr algn="ctr">
              <a:defRPr/>
            </a:pPr>
            <a:endParaRPr lang="ru-RU" sz="15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ru-RU" sz="15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5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defRPr/>
            </a:pPr>
            <a:r>
              <a:rPr lang="ru-RU" sz="15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Этот канал осуществляет преобразование  измеряемой величины в цифровую форму представления. К нему предъявляется требование ввода минимальность количества информации при сохранении уровня точности по отношению к  Х.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25500" y="2608263"/>
            <a:ext cx="8064500" cy="1708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X(t) - аналоговая величина :y(</a:t>
            </a:r>
            <a:r>
              <a:rPr 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- цифровой код</a:t>
            </a:r>
          </a:p>
          <a:p>
            <a:pPr algn="ctr">
              <a:defRPr/>
            </a:pP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АЦП  - аналого-цифровой преобразователь ,  являющийся конечным элементом ЦИК.</a:t>
            </a:r>
          </a:p>
          <a:p>
            <a:pPr algn="ctr">
              <a:defRPr/>
            </a:pP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НП - нормирующий преобразователь (может усиливать сигнал, может преобразовывать в цифровой сигнал).</a:t>
            </a:r>
          </a:p>
          <a:p>
            <a:pPr algn="ctr">
              <a:defRPr/>
            </a:pP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МУ - масштабирующее устройство (величина Х должна соответствовать входному сигналу АЦП).</a:t>
            </a:r>
          </a:p>
          <a:p>
            <a:pPr algn="ctr">
              <a:defRPr/>
            </a:pP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 - фильтры для подавления как внешних помех, так и помех, возникающих в ЦИК.</a:t>
            </a:r>
          </a:p>
        </p:txBody>
      </p:sp>
      <p:pic>
        <p:nvPicPr>
          <p:cNvPr id="8198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131888"/>
            <a:ext cx="38195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F8DC988-AA6C-44BA-9C5E-8F363BA6610E}" type="slidenum">
              <a:rPr kumimoji="0" lang="ru-RU" altLang="ru-RU" sz="3600" smtClean="0">
                <a:solidFill>
                  <a:schemeClr val="bg1"/>
                </a:solidFill>
              </a:rPr>
              <a:pPr/>
              <a:t>4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9219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9725"/>
            <a:ext cx="1006475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Прямоугольник 1"/>
          <p:cNvSpPr>
            <a:spLocks noChangeArrowheads="1"/>
          </p:cNvSpPr>
          <p:nvPr/>
        </p:nvSpPr>
        <p:spPr bwMode="auto">
          <a:xfrm>
            <a:off x="1566863" y="484188"/>
            <a:ext cx="7037387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датчиков (по назначению)</a:t>
            </a:r>
            <a:endParaRPr lang="ru-RU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С точки зрения ввода первичной информации датчики классификации не имеют.</a:t>
            </a:r>
            <a:endParaRPr lang="ru-RU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Имеется классификация по :</a:t>
            </a:r>
            <a:endParaRPr lang="ru-RU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1) форме представления сигналов</a:t>
            </a:r>
            <a:endParaRPr lang="ru-RU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аналоговая форма (непрерывная); дискретная форма.</a:t>
            </a:r>
            <a:endParaRPr lang="ru-RU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ts val="1400"/>
            </a:pP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2) по уровню автоматизации ввода информации:</a:t>
            </a:r>
            <a:endParaRPr lang="ru-RU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с автоматическим съемом; с п/автоматическим съемом.</a:t>
            </a:r>
          </a:p>
        </p:txBody>
      </p:sp>
      <p:sp>
        <p:nvSpPr>
          <p:cNvPr id="9221" name="Прямоугольник 2"/>
          <p:cNvSpPr>
            <a:spLocks noChangeArrowheads="1"/>
          </p:cNvSpPr>
          <p:nvPr/>
        </p:nvSpPr>
        <p:spPr bwMode="auto">
          <a:xfrm>
            <a:off x="755650" y="2716213"/>
            <a:ext cx="7777163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Погрешности  преобразования,  их  типы  и  особенности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анализа погрешности канал можно представить в виде набора элементов как аналоговых, цифровых и АЦП. Аналоговые звенья определяют инструментальную погрешность преобразования, а АЦП определяет методическую составляющую погрешности. У АЦП вход аналоговый , а выход цифровой.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дисциплины инженерии к программному обеспечению</a:t>
            </a:r>
          </a:p>
          <a:p>
            <a:pPr algn="just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1A32FAA-CCF3-466D-8268-06FEE7C84E90}" type="slidenum">
              <a:rPr kumimoji="0" lang="ru-RU" altLang="ru-RU" sz="3600" smtClean="0">
                <a:solidFill>
                  <a:schemeClr val="bg1"/>
                </a:solidFill>
              </a:rPr>
              <a:pPr/>
              <a:t>5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0243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463550"/>
            <a:ext cx="4164012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5576" y="1419622"/>
            <a:ext cx="7920880" cy="2431435"/>
          </a:xfrm>
          <a:prstGeom prst="rect">
            <a:avLst/>
          </a:prstGeom>
          <a:blipFill rotWithShape="0">
            <a:blip r:embed="rId4"/>
            <a:stretch>
              <a:fillRect l="-462" t="-1003" b="-2757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pic>
        <p:nvPicPr>
          <p:cNvPr id="1024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39725"/>
            <a:ext cx="416401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F98ED95-B3E9-4FA3-AA1D-FBAA3D0AB98C}" type="slidenum">
              <a:rPr kumimoji="0" lang="ru-RU" altLang="ru-RU" sz="3600" smtClean="0">
                <a:solidFill>
                  <a:schemeClr val="bg1"/>
                </a:solidFill>
              </a:rPr>
              <a:pPr/>
              <a:t>6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1267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Прямоугольник 2"/>
          <p:cNvSpPr>
            <a:spLocks noChangeArrowheads="1"/>
          </p:cNvSpPr>
          <p:nvPr/>
        </p:nvSpPr>
        <p:spPr bwMode="auto">
          <a:xfrm>
            <a:off x="1619250" y="627063"/>
            <a:ext cx="70564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3975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96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Виды  и  формы  представления  погрешностей</a:t>
            </a:r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Погрешность измерения - отклонение результатов измерения от истинного значения измеряемой величины.</a:t>
            </a:r>
          </a:p>
        </p:txBody>
      </p:sp>
      <p:pic>
        <p:nvPicPr>
          <p:cNvPr id="11269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540669"/>
            <a:ext cx="6122987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Прямоугольник 7"/>
          <p:cNvSpPr>
            <a:spLocks noChangeArrowheads="1"/>
          </p:cNvSpPr>
          <p:nvPr/>
        </p:nvSpPr>
        <p:spPr bwMode="auto">
          <a:xfrm>
            <a:off x="611188" y="3363913"/>
            <a:ext cx="78486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Аддитивная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погрешность - погрешность средства измерения во всем диапазоне, ограниченная постоянным пределом.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Мультипликативная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погрешность - погрешность, возрастающая пропорционально росту входной величины.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9CCFFC8-80BF-4020-A6C6-C29746522D77}" type="slidenum">
              <a:rPr kumimoji="0" lang="ru-RU" altLang="ru-RU" sz="3600" smtClean="0">
                <a:solidFill>
                  <a:schemeClr val="bg1"/>
                </a:solidFill>
              </a:rPr>
              <a:pPr/>
              <a:t>7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2291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027113"/>
            <a:ext cx="24955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692275" y="684213"/>
            <a:ext cx="5688013" cy="32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погрешность имеет следующие составляющие:</a:t>
            </a:r>
          </a:p>
        </p:txBody>
      </p:sp>
      <p:sp>
        <p:nvSpPr>
          <p:cNvPr id="12294" name="Прямоугольник 3"/>
          <p:cNvSpPr>
            <a:spLocks noChangeArrowheads="1"/>
          </p:cNvSpPr>
          <p:nvPr/>
        </p:nvSpPr>
        <p:spPr bwMode="auto">
          <a:xfrm>
            <a:off x="455385" y="1309282"/>
            <a:ext cx="8135937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Систематическая погрешность       -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изменяющаяся со временем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погрешность, которая может быть предсказана  и благодаря этому почти полностью устранена введением соответствующих поправок.     - случайная погрешность. Выделяют два вида систематической .погрешности: постоянные и изменяющиеся. Опасность постоянных в том, что их трудно обнаружить. Единственный способ их обнаружения состоит в поверке (аттестации) приборов. Изменяющиеся погрешности (в процессе измерения неизменны) связаны с такими процессами как изменение температуры, напряжения питания и др. Можно выделить следующие составляющие систематической погрешности: погрешность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усиления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квантования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нуля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Первая может вести себя как мультипликативная погрешность, а две оставшиеся как аддитивная погрешность.</a:t>
            </a:r>
          </a:p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Мультипликативная погрешность – это погрешность, изменяющаяся вместе с изменением значений величины, подвергающейся измерениям.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Дрейф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непредсказуемые погрешности медленно изменяющиеся во времени. Они могут быть скорректированы введением поправок лишь в данный момент времени, а далее вновь непредсказуемо изменяются. 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/>
          </a:p>
        </p:txBody>
      </p:sp>
      <p:graphicFrame>
        <p:nvGraphicFramePr>
          <p:cNvPr id="12296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906009"/>
              </p:ext>
            </p:extLst>
          </p:nvPr>
        </p:nvGraphicFramePr>
        <p:xfrm>
          <a:off x="3203848" y="1321928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Уравнение" r:id="rId5" imgW="228501" imgH="291973" progId="Equation.3">
                  <p:embed/>
                </p:oleObj>
              </mc:Choice>
              <mc:Fallback>
                <p:oleObj name="Уравнение" r:id="rId5" imgW="228501" imgH="291973" progId="Equation.3">
                  <p:embed/>
                  <p:pic>
                    <p:nvPicPr>
                      <p:cNvPr id="0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321928"/>
                        <a:ext cx="2286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7" name="Рисунок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38" y="3867894"/>
            <a:ext cx="1657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315" y="1798638"/>
            <a:ext cx="2381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8B28E46-F8CD-4CE7-B583-A63DDFBDCE94}" type="slidenum">
              <a:rPr kumimoji="0" lang="ru-RU" altLang="ru-RU" sz="3600" smtClean="0">
                <a:solidFill>
                  <a:schemeClr val="bg1"/>
                </a:solidFill>
              </a:rPr>
              <a:pPr/>
              <a:t>8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3315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Прямоугольник 1"/>
          <p:cNvSpPr>
            <a:spLocks noChangeArrowheads="1"/>
          </p:cNvSpPr>
          <p:nvPr/>
        </p:nvSpPr>
        <p:spPr bwMode="auto">
          <a:xfrm>
            <a:off x="1619250" y="684213"/>
            <a:ext cx="698500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Случайная погрешность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- непредсказуемая  (недостаточно изученная) ни по знаку ни по размеру погрешность. Она определяется совокупностью причин, трудно подлежащих анализу. Присутствие случайных погрешностей легко обнаружить при повторных измерениях в виде разброса получаемых результатов. Для обработки применяют статистические методы. </a:t>
            </a:r>
          </a:p>
        </p:txBody>
      </p:sp>
      <p:pic>
        <p:nvPicPr>
          <p:cNvPr id="13318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684213"/>
            <a:ext cx="2381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3795713"/>
            <a:ext cx="2381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Рисунок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533900"/>
            <a:ext cx="61229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B25437-12D0-4B9A-BAEE-2F30734EE4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17" y="1909763"/>
            <a:ext cx="8064896" cy="25872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86B27F0-8ED6-4411-AB04-0CC9FA1C8EB3}" type="slidenum">
              <a:rPr kumimoji="0" lang="ru-RU" altLang="ru-RU" sz="3600" smtClean="0">
                <a:solidFill>
                  <a:schemeClr val="bg1"/>
                </a:solidFill>
              </a:rPr>
              <a:pPr/>
              <a:t>9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4339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Прямоугольник 1"/>
          <p:cNvSpPr>
            <a:spLocks noChangeArrowheads="1"/>
          </p:cNvSpPr>
          <p:nvPr/>
        </p:nvSpPr>
        <p:spPr bwMode="auto">
          <a:xfrm>
            <a:off x="1908175" y="684213"/>
            <a:ext cx="6624638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Методическая погрешность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- погрешность, определяемая методом измерения.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Всякому измерению должно предшествовать изучение измеряемой величины и ее систематической составляющей погрешности измерений с целью решения вопроса многократных измерений. </a:t>
            </a:r>
          </a:p>
        </p:txBody>
      </p:sp>
      <p:pic>
        <p:nvPicPr>
          <p:cNvPr id="14341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8421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Прямоугольник 3"/>
          <p:cNvSpPr>
            <a:spLocks noChangeArrowheads="1"/>
          </p:cNvSpPr>
          <p:nvPr/>
        </p:nvSpPr>
        <p:spPr bwMode="auto">
          <a:xfrm>
            <a:off x="576263" y="1906588"/>
            <a:ext cx="79914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размах результатов предварительных наблюдений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то доминирует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систематическая погрешность и измерение однократно.</a:t>
            </a:r>
          </a:p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 суммарная погрешность определяется случайной составляющей и измерение должно быть многократным.</a:t>
            </a:r>
          </a:p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суммарная погрешность определяется суммой систематической и случайной составляющих и измерения многократны.</a:t>
            </a:r>
          </a:p>
        </p:txBody>
      </p:sp>
      <p:pic>
        <p:nvPicPr>
          <p:cNvPr id="14343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675" y="1906588"/>
            <a:ext cx="15811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3150"/>
            <a:ext cx="1466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2795588"/>
            <a:ext cx="1466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Прямоугольник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3568" y="3444039"/>
            <a:ext cx="7848872" cy="1246495"/>
          </a:xfrm>
          <a:prstGeom prst="rect">
            <a:avLst/>
          </a:prstGeom>
          <a:blipFill rotWithShape="0">
            <a:blip r:embed="rId7"/>
            <a:stretch>
              <a:fillRect l="-311" t="-1961" r="-233" b="-4412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068BC41-7836-4CCD-8010-2CD246058A58}" type="slidenum">
              <a:rPr kumimoji="0" lang="ru-RU" altLang="ru-RU" sz="3600" smtClean="0">
                <a:solidFill>
                  <a:schemeClr val="bg1"/>
                </a:solidFill>
              </a:rPr>
              <a:pPr/>
              <a:t>10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5363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0" name="Прямоугольник 1537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8313" y="1635646"/>
            <a:ext cx="8280151" cy="2872068"/>
          </a:xfrm>
          <a:prstGeom prst="rect">
            <a:avLst/>
          </a:prstGeom>
          <a:blipFill rotWithShape="0">
            <a:blip r:embed="rId3"/>
            <a:stretch>
              <a:fillRect l="-295" t="-425" r="-295" b="-1486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pic>
        <p:nvPicPr>
          <p:cNvPr id="15365" name="Рисунок 1538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693863"/>
            <a:ext cx="2762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3" name="TextBox 1538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91880" y="1927880"/>
            <a:ext cx="870815" cy="230832"/>
          </a:xfrm>
          <a:prstGeom prst="rect">
            <a:avLst/>
          </a:prstGeom>
          <a:blipFill rotWithShape="0">
            <a:blip r:embed="rId5"/>
            <a:stretch>
              <a:fillRect l="-4196" r="-1399" b="-18421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pic>
        <p:nvPicPr>
          <p:cNvPr id="15367" name="Рисунок 5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5" y="3067050"/>
            <a:ext cx="2762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Рисунок 5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292475"/>
            <a:ext cx="2762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Рисунок 1538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550" y="3508375"/>
            <a:ext cx="8953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Рисунок 1538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4448175"/>
            <a:ext cx="24765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744C0CE-ACBD-4D42-AA84-E49F1E16D916}" type="slidenum">
              <a:rPr kumimoji="0" lang="ru-RU" altLang="ru-RU" sz="3600" smtClean="0">
                <a:solidFill>
                  <a:schemeClr val="bg1"/>
                </a:solidFill>
              </a:rPr>
              <a:pPr/>
              <a:t>11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6387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9725"/>
            <a:ext cx="10048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963738" y="536575"/>
            <a:ext cx="6569075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15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квантующую характеристику. Закон распределения методической погрешности     считаем равномерным, т.е. вероятность попадания измеряемой величины в разные участки кванта одинакова. Среднеквадратическое отклонение для равномерного закона распределения:</a:t>
            </a:r>
          </a:p>
          <a:p>
            <a:pPr algn="ctr">
              <a:defRPr/>
            </a:pPr>
            <a:endParaRPr lang="ru-RU" sz="1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ru-RU" sz="15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9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771525"/>
            <a:ext cx="285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536700"/>
            <a:ext cx="8001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60" y="1997627"/>
            <a:ext cx="7920880" cy="2180918"/>
          </a:xfrm>
          <a:prstGeom prst="rect">
            <a:avLst/>
          </a:prstGeom>
          <a:blipFill rotWithShape="0">
            <a:blip r:embed="rId5"/>
            <a:stretch>
              <a:fillRect l="-308" t="-840" r="-2077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pic>
        <p:nvPicPr>
          <p:cNvPr id="16392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076174"/>
            <a:ext cx="14938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Рисунок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2508250"/>
            <a:ext cx="11239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Рисунок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2444750"/>
            <a:ext cx="1228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Рисунок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013" y="2387600"/>
            <a:ext cx="685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6" name="Рисунок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04"/>
          <a:stretch>
            <a:fillRect/>
          </a:stretch>
        </p:blipFill>
        <p:spPr bwMode="auto">
          <a:xfrm>
            <a:off x="5724525" y="3475038"/>
            <a:ext cx="3968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D4CC96B-964E-42EB-810D-E1993B075346}" type="slidenum">
              <a:rPr kumimoji="0" lang="ru-RU" altLang="ru-RU" sz="3600" smtClean="0">
                <a:solidFill>
                  <a:schemeClr val="bg1"/>
                </a:solidFill>
              </a:rPr>
              <a:pPr/>
              <a:t>12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7411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9725"/>
            <a:ext cx="1006475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555625"/>
            <a:ext cx="5640388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07ACB3D-9662-48C8-9EE6-4B4A3D3BE3E3}" type="slidenum">
              <a:rPr kumimoji="0" lang="ru-RU" altLang="ru-RU" sz="3600" smtClean="0">
                <a:solidFill>
                  <a:schemeClr val="bg1"/>
                </a:solidFill>
              </a:rPr>
              <a:pPr/>
              <a:t>13</a:t>
            </a:fld>
            <a:endParaRPr kumimoji="0" lang="ru-RU" altLang="ru-RU" sz="3600">
              <a:solidFill>
                <a:schemeClr val="bg1"/>
              </a:solidFill>
            </a:endParaRPr>
          </a:p>
        </p:txBody>
      </p:sp>
      <p:pic>
        <p:nvPicPr>
          <p:cNvPr id="18435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9725"/>
            <a:ext cx="1006475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700088"/>
            <a:ext cx="48895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60" y="2643758"/>
            <a:ext cx="7920880" cy="1508105"/>
          </a:xfrm>
          <a:prstGeom prst="rect">
            <a:avLst/>
          </a:prstGeom>
          <a:blipFill rotWithShape="0">
            <a:blip r:embed="rId4"/>
            <a:stretch>
              <a:fillRect l="-308" t="-1215" r="-231" b="-2834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риз">
  <a:themeElements>
    <a:clrScheme name="Бриз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Бриз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Бриз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4D3A69974A7A942ADAEDCADA66E5607" ma:contentTypeVersion="2" ma:contentTypeDescription="Создание документа." ma:contentTypeScope="" ma:versionID="e0264ca1b011bc793fa78cdeb4500140">
  <xsd:schema xmlns:xsd="http://www.w3.org/2001/XMLSchema" xmlns:xs="http://www.w3.org/2001/XMLSchema" xmlns:p="http://schemas.microsoft.com/office/2006/metadata/properties" xmlns:ns2="8a6f89b4-be3f-4e15-b694-df75207828fc" targetNamespace="http://schemas.microsoft.com/office/2006/metadata/properties" ma:root="true" ma:fieldsID="64066a30ed13db99051e99d0578aed1d" ns2:_="">
    <xsd:import namespace="8a6f89b4-be3f-4e15-b694-df75207828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6f89b4-be3f-4e15-b694-df75207828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0CF2A7-3946-4F6B-90A4-8A87EFE0B6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6f89b4-be3f-4e15-b694-df75207828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EC069B-A621-4A94-A343-31083602348F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8a6f89b4-be3f-4e15-b694-df75207828f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4511</TotalTime>
  <Words>497</Words>
  <Application>Microsoft Office PowerPoint</Application>
  <PresentationFormat>Экран (16:9)</PresentationFormat>
  <Paragraphs>62</Paragraphs>
  <Slides>13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News Gothic MT</vt:lpstr>
      <vt:lpstr>Times New Roman</vt:lpstr>
      <vt:lpstr>Wingdings 2</vt:lpstr>
      <vt:lpstr>Бриз</vt:lpstr>
      <vt:lpstr>Уравнение</vt:lpstr>
      <vt:lpstr> РАЗРАБОТКА ПРОГРАММНО-АППАРАТНЫХ КОМПЛЕКСОВ.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образовательных программ аспирантуры к государственной аккредитации</dc:title>
  <dc:creator>Пюро В.А.</dc:creator>
  <cp:lastModifiedBy>HUAWEI</cp:lastModifiedBy>
  <cp:revision>160</cp:revision>
  <dcterms:created xsi:type="dcterms:W3CDTF">2015-01-16T08:53:00Z</dcterms:created>
  <dcterms:modified xsi:type="dcterms:W3CDTF">2026-09-17T10:01:17Z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0x010100F0ACCDE7B094A442A60D94F4CC8C7F10</vt:lpwstr>
  </property>
  <property fmtid="{D5CDD505-2E9C-101B-9397-08002B2CF9AE}" pid="3" name="IconOverlay">
    <vt:lpwstr/>
  </property>
</Properties>
</file>